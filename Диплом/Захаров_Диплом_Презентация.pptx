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52" r:id="rId1"/>
  </p:sldMasterIdLst>
  <p:notesMasterIdLst>
    <p:notesMasterId r:id="rId21"/>
  </p:notesMasterIdLst>
  <p:sldIdLst>
    <p:sldId id="262" r:id="rId2"/>
    <p:sldId id="258" r:id="rId3"/>
    <p:sldId id="257" r:id="rId4"/>
    <p:sldId id="280" r:id="rId5"/>
    <p:sldId id="276" r:id="rId6"/>
    <p:sldId id="277" r:id="rId7"/>
    <p:sldId id="279" r:id="rId8"/>
    <p:sldId id="275" r:id="rId9"/>
    <p:sldId id="284" r:id="rId10"/>
    <p:sldId id="283" r:id="rId11"/>
    <p:sldId id="285" r:id="rId12"/>
    <p:sldId id="281" r:id="rId13"/>
    <p:sldId id="268" r:id="rId14"/>
    <p:sldId id="259" r:id="rId15"/>
    <p:sldId id="267" r:id="rId16"/>
    <p:sldId id="269" r:id="rId17"/>
    <p:sldId id="270" r:id="rId18"/>
    <p:sldId id="278" r:id="rId19"/>
    <p:sldId id="28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5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DC3C7-17E5-4A38-92F9-0B23079600E0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7255F-652C-4B7B-85C2-348ACAF4C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504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D6F-3A14-3581-E23B-A0FE7C3E5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5177F6-CC9F-7443-63F1-C7E814283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4A4C14-D736-4350-5B9E-F4084B27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FF836-2B64-4A3F-AE6A-003A45FEE0F3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192C65-FFC9-B6CA-69B8-6F0EC3B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031187-5914-449F-53A8-D68AF4D2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81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E49D8-0B51-333C-7801-6530BE31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A7B6A9-CAD4-0CB3-07CB-22A65A63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E06EA5-4917-62AB-2906-0EAD64BE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7B7E-B994-480D-A331-A9EA63DFA5DB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AE457-6C23-6DC8-F309-633E8C38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A1D024-75FA-48FB-7CEF-C5163083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97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A78D2-3B5D-3F8E-6C44-F66C761D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8529A0-BBCE-4437-218A-7EBE66EB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4C2C2A-C546-4F4F-AA9E-2C3BDDCB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8CC9-C420-49E6-83BE-2A241A1D026C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54C83-9740-CAEE-EB23-8AEFD8369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43DC4-0EDD-9090-BCA9-C7FCCC3E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6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5C056-C840-717A-8976-AA2AD84D5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1942B8-B65A-C15B-574B-94F4D43FA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BD81E8-0CBE-AA7E-CC1A-A84F2E7C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6183B3-CE4D-FB1E-21CD-159138B7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1AA6-DD60-4E23-8F97-AAD1B31EC4A9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55FE8E-78D1-7A52-40F4-F711D80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D09126-90FE-B0BD-05A4-1E79CCFE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0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81DE2-A176-2E1F-040A-9D60AAFE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C7EAE4-A896-95E0-38A3-9550498AE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8D0704-9D8D-1E88-4D9C-741FFDF00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E00F93-D8BD-1803-D4FC-3CF9949B9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81AFDD-DD90-8257-DE87-1ECDD8E76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BAC971-1259-775D-4F8E-ADC5A908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AAC10-585C-4B4F-A71A-A3E4C8E234EB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669BA0-8C66-A3AC-ED25-F80001FF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297F12-B260-25C1-7037-5F9BF3D3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38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AB4E2-231F-EE0A-4BB6-76F4E9ED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58C1DA-1EC9-1F87-B96C-757609E0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122B-E463-4E5A-95D4-8E782ECE0183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8FCAD9-DE67-F230-74FA-85FD3445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87F26B-6B51-04ED-FDA8-C3BD31A9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91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FD2644-6485-BB43-6B74-0C54C4ED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F48-E59A-4E68-85B3-3760E9BBE55D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15DD1E-1808-0963-DD2F-F1F8F009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5325B4-5380-9CF0-2C64-9C197644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8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72363-3768-3E02-9618-FD9C02F4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3F7CEE-D426-95AC-C518-AB9918100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1AACC4-69CF-83A6-5404-67C0BAB72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C3D78F-CDD7-4CE5-6AC6-B04385A2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5AC2-D0E3-4289-B1C3-DF440BC216FE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357696-42BF-758B-22A3-ABF7BBD0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F7AC7C-492D-BF83-2652-A390D057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85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B8E2E-7D25-5A82-0188-7C4A50B8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397A6D-F9D1-5272-CC2D-F84BF63A1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466624-C04F-D1BD-1511-A3CBF8E88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6619CF-F54F-FD1E-140B-98B8C584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0C1E-44F1-41B3-9EB3-B05B7A62D218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2438C7-543E-648C-1510-5F52FB70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68D0C2-4FF1-40BC-9777-101D56D6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83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FCA0D-E067-C077-FC71-22E1130A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681287-A93D-15EC-DE60-AC263F29E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CACE7D-1673-3EDA-932B-9D395BB5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BFA4-DF61-432B-97B0-685275C87F4B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59306-21F3-1965-9057-DD9082CCE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B60433-020C-0B7A-F5EE-79854633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89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83C2FCA-77E6-4E23-8B4F-F7980F103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7A6481-54F5-36A6-0B25-C5701D974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C4048-30AC-FD23-A7F7-E02A5626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FD28-AC06-40F3-994F-8B7DBEECCF4E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C054C0-3E03-36AD-9E12-98F07EAE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4FBBC9-6398-AD28-7C33-4F8F05F3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7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CAE72-F3CF-52BF-C789-B7743D48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EA97C9-8F62-E195-DBB2-3A5817DA4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0C97C2-3CD5-2D3B-61A0-6FC23FD5C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CFA8E-7E31-4164-9039-60862A8EA99C}" type="datetime1">
              <a:rPr lang="en-US" smtClean="0"/>
              <a:t>6/18/2025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C5BDB4-74B0-CB27-EF45-41234971A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F9BB9-F96F-6A8D-14E4-8B71C647A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35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852" y="1210392"/>
            <a:ext cx="11375470" cy="2234343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подсистемы анализа кадровых данных для Ситуационного центра Губернатора Ульяновской области с использованием платформы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Visiology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734387" y="0"/>
            <a:ext cx="8534400" cy="9476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Ульяновский государственный технический университет</a:t>
            </a:r>
          </a:p>
          <a:p>
            <a:pPr algn="ctr">
              <a:lnSpc>
                <a:spcPct val="120000"/>
              </a:lnSpc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систем и технологий</a:t>
            </a:r>
          </a:p>
          <a:p>
            <a:pPr algn="ctr">
              <a:lnSpc>
                <a:spcPct val="120000"/>
              </a:lnSpc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«Информационных систем»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3305" y="3707476"/>
            <a:ext cx="11945390" cy="2821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080" algn="ctr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Обучающийся  4  курса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Группа  ИСЭбд-41 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Направление подготовки/ специальность 09.03.03 –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информатика (профиль «Прикладная информатика в экономике»)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Захаров Владислав Витальевич </a:t>
            </a:r>
            <a:r>
              <a:rPr lang="ru-RU" sz="1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indent="5080"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Руководитель:</a:t>
            </a:r>
          </a:p>
          <a:p>
            <a:pPr indent="508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ст. преподаватель, </a:t>
            </a:r>
            <a:r>
              <a:rPr lang="ru-RU" sz="1400" dirty="0" err="1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Шеркунов</a:t>
            </a: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 Вячеслав Владимирович</a:t>
            </a:r>
            <a:r>
              <a:rPr lang="ru-RU" sz="1400" baseline="300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	</a:t>
            </a:r>
          </a:p>
          <a:p>
            <a:pPr indent="5080">
              <a:spcAft>
                <a:spcPts val="0"/>
              </a:spcAft>
            </a:pPr>
            <a:endParaRPr lang="ru-RU" sz="1400" baseline="30000" dirty="0">
              <a:latin typeface="Times New Roman" panose="02020603050405020304" pitchFamily="18" charset="0"/>
              <a:ea typeface="Yu Gothic UI Semilight" panose="020B0400000000000000" pitchFamily="34" charset="-128"/>
              <a:cs typeface="Times New Roman" panose="02020603050405020304" pitchFamily="18" charset="0"/>
            </a:endParaRPr>
          </a:p>
          <a:p>
            <a:pPr indent="5080" algn="ctr"/>
            <a:br>
              <a:rPr lang="en-US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</a:br>
            <a:endParaRPr lang="ru-RU" sz="1400" dirty="0">
              <a:latin typeface="Times New Roman" panose="02020603050405020304" pitchFamily="18" charset="0"/>
              <a:ea typeface="Yu Gothic UI Semilight" panose="020B0400000000000000" pitchFamily="34" charset="-128"/>
              <a:cs typeface="Times New Roman" panose="02020603050405020304" pitchFamily="18" charset="0"/>
            </a:endParaRPr>
          </a:p>
          <a:p>
            <a:pPr indent="5080" algn="ctr"/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г. Ульяновск, 202</a:t>
            </a:r>
            <a:r>
              <a:rPr lang="en-US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5</a:t>
            </a:r>
            <a:r>
              <a:rPr lang="ru-RU" sz="1400" dirty="0">
                <a:latin typeface="Times New Roman" panose="02020603050405020304" pitchFamily="18" charset="0"/>
                <a:ea typeface="Yu Gothic UI Semilight" panose="020B0400000000000000" pitchFamily="34" charset="-128"/>
                <a:cs typeface="Times New Roman" panose="02020603050405020304" pitchFamily="18" charset="0"/>
              </a:rPr>
              <a:t> г.</a:t>
            </a:r>
          </a:p>
        </p:txBody>
      </p:sp>
    </p:spTree>
    <p:extLst>
      <p:ext uri="{BB962C8B-B14F-4D97-AF65-F5344CB8AC3E}">
        <p14:creationId xmlns:p14="http://schemas.microsoft.com/office/powerpoint/2010/main" val="3905277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9625"/>
            <a:ext cx="12192000" cy="720000"/>
          </a:xfrm>
        </p:spPr>
        <p:txBody>
          <a:bodyPr/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96000" y="737355"/>
            <a:ext cx="10800000" cy="4360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400" dirty="0"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данный момент кадровая аналитика в государственных структурах часто основывается на разрозненных данных, обработка которых требует значительных временных и трудозатрат. Ситуационный центр Губернатора Ульяновской области нуждается в инструменте, который позволит оперативно обрабатывать, хранить и анализировать кадровые данные.</a:t>
            </a:r>
          </a:p>
          <a:p>
            <a:pPr algn="just">
              <a:spcAft>
                <a:spcPts val="800"/>
              </a:spcAft>
            </a:pPr>
            <a:r>
              <a:rPr lang="ru-RU" sz="2400" dirty="0"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подсистемы анализа кадровых данных позволит автоматизировать процесс обработки информации и значительно сократить время на анализ и подготовку отчетности.</a:t>
            </a:r>
          </a:p>
          <a:p>
            <a:pPr algn="just">
              <a:spcAft>
                <a:spcPts val="800"/>
              </a:spcAft>
            </a:pPr>
            <a:r>
              <a:rPr lang="ru-RU" sz="2400" dirty="0"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создание подсистемы анализа кадровых данных является актуальной задачей, способствующей цифровизации кадровых процессов и повышению эффективности работы Ситуационного центра Губернатора Ульяновской области.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75E3178-785B-5CD0-A80A-46CB4C0A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7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6705"/>
            <a:ext cx="12192000" cy="719349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6000" y="759839"/>
            <a:ext cx="10800000" cy="550701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>
                <a:latin typeface="Times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400" b="0" dirty="0">
                <a:latin typeface="Times" panose="02020603050405020304" pitchFamily="18" charset="0"/>
                <a:cs typeface="Times New Roman" panose="02020603050405020304" pitchFamily="18" charset="0"/>
              </a:rPr>
              <a:t>утем разработки централизованного хранилища, автоматизировать процесс обработки информации, сократив количество ошибок при работе с данными и значительно сократить время на анализ и подготовку отчетности.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требования заказчика и предметную область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разрабатываемую систему</a:t>
            </a:r>
            <a:endParaRPr lang="ru-RU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подсистему анализа на базе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Designer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Visiology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заполнить ее тестовыми данными</a:t>
            </a:r>
            <a:endParaRPr lang="ru-RU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подсистему хранения кадровых данных на базе Python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Внедрить проект (получить акт о внедрении программных средств у заказчика)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6EF35E-4EF1-F2EA-91A2-F38B1C2B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6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B6A47-0A1C-6EE2-2171-78469B55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E92893F-15FA-16A4-43A5-72F575168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778386"/>
              </p:ext>
            </p:extLst>
          </p:nvPr>
        </p:nvGraphicFramePr>
        <p:xfrm>
          <a:off x="1412156" y="1451837"/>
          <a:ext cx="9367688" cy="39543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12073">
                  <a:extLst>
                    <a:ext uri="{9D8B030D-6E8A-4147-A177-3AD203B41FA5}">
                      <a16:colId xmlns:a16="http://schemas.microsoft.com/office/drawing/2014/main" val="1046924485"/>
                    </a:ext>
                  </a:extLst>
                </a:gridCol>
                <a:gridCol w="1531123">
                  <a:extLst>
                    <a:ext uri="{9D8B030D-6E8A-4147-A177-3AD203B41FA5}">
                      <a16:colId xmlns:a16="http://schemas.microsoft.com/office/drawing/2014/main" val="950443757"/>
                    </a:ext>
                  </a:extLst>
                </a:gridCol>
                <a:gridCol w="1531123">
                  <a:extLst>
                    <a:ext uri="{9D8B030D-6E8A-4147-A177-3AD203B41FA5}">
                      <a16:colId xmlns:a16="http://schemas.microsoft.com/office/drawing/2014/main" val="1828804803"/>
                    </a:ext>
                  </a:extLst>
                </a:gridCol>
                <a:gridCol w="1531123">
                  <a:extLst>
                    <a:ext uri="{9D8B030D-6E8A-4147-A177-3AD203B41FA5}">
                      <a16:colId xmlns:a16="http://schemas.microsoft.com/office/drawing/2014/main" val="939273377"/>
                    </a:ext>
                  </a:extLst>
                </a:gridCol>
                <a:gridCol w="1531123">
                  <a:extLst>
                    <a:ext uri="{9D8B030D-6E8A-4147-A177-3AD203B41FA5}">
                      <a16:colId xmlns:a16="http://schemas.microsoft.com/office/drawing/2014/main" val="4121470929"/>
                    </a:ext>
                  </a:extLst>
                </a:gridCol>
                <a:gridCol w="1531123">
                  <a:extLst>
                    <a:ext uri="{9D8B030D-6E8A-4147-A177-3AD203B41FA5}">
                      <a16:colId xmlns:a16="http://schemas.microsoft.com/office/drawing/2014/main" val="1132080549"/>
                    </a:ext>
                  </a:extLst>
                </a:gridCol>
              </a:tblGrid>
              <a:tr h="147178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Доступность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Продвинутая визуализация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Сложность освоения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Зависимость от собственной экосистемы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Возможность работы в закрытом контуре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0093953"/>
                  </a:ext>
                </a:extLst>
              </a:tr>
              <a:tr h="6206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Сложно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6288065"/>
                  </a:ext>
                </a:extLst>
              </a:tr>
              <a:tr h="6206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Power BI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1733773"/>
                  </a:ext>
                </a:extLst>
              </a:tr>
              <a:tr h="6206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Yandex DataLens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6966471"/>
                  </a:ext>
                </a:extLst>
              </a:tr>
              <a:tr h="6206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Visiology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0111133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EF4ABF-296E-36E6-DE80-93307C4C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3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3A8E5-EB63-2D77-119E-B99629875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420DD-6B40-328A-9E50-D450DAA0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746981"/>
            <a:ext cx="10800000" cy="57693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проекта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разрабатывается две подсистемы: подсистема анализа и подсистема хранения кадровых данных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подсистемы анализа дынных была выбрана платформа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Visiology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Это современная российская BI платформа для создания интерактивных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дашбордов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аналитики в реальном времени. Она позволяет собирать, обрабатывать, визуализировать и анализировать данные из различных источников, предоставляя пользователям удобный интерфейс и широкий инструментарий.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была выбрана так как имеющаяся инфраструктура заказчика уже построена 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этой платформе, что позволит легче интегрировать новую систему в работу СЦ ГУО.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подсистемы хранения данных был выбран язык программирования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Основные библиотеки: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PySide6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пользовательский интерфейс),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psycopg2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БД)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СУБД для промежуточной базы данных был выбран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8A6F9A-5A4C-ED03-11B4-569C7095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32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06A1651B-5460-2B1E-76EA-E98C8EC58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41" y="1023730"/>
            <a:ext cx="11668117" cy="4810539"/>
          </a:xfr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CC3B30D-511B-AD27-C2B9-49E11FA9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1E1F2-74FC-7F2C-269E-9262ED51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AEC2CC2-0E0B-DFC2-28E2-24305CDFD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7254" y="720000"/>
            <a:ext cx="8797491" cy="5998434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F3E001-0C6B-D9F9-95A9-30E44553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54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15D29-A638-47B5-DC13-8E964C00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7200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8398E52-2628-F4D6-5E0C-ED229B2CA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15" y="1253331"/>
            <a:ext cx="8922369" cy="435133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C37DFCE-B452-5421-CA1F-EAC94255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7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C5D468-5828-F770-314B-1664F2E1D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102" y="19367"/>
            <a:ext cx="3895090" cy="333311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A76834-1E9A-9189-FFF3-53C807D9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3" y="0"/>
            <a:ext cx="3876675" cy="33337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75DCCB-0068-3D6A-716B-4D6D4E4B4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867" y="0"/>
            <a:ext cx="3914775" cy="33718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2BCC0B-F357-8CCA-7471-0C8109125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8" y="3611466"/>
            <a:ext cx="2409825" cy="31813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15F1DFD-8D3E-34F9-12FA-B555EFCFC6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787" y="3770588"/>
            <a:ext cx="3829050" cy="548703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D015F14-911F-5E33-E1E0-BFB0DA77FF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6806" y="3524748"/>
            <a:ext cx="3838575" cy="317182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F3D5C91-0BCB-7FAB-5723-8D64D53D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5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1C4581-D73C-5914-1D68-DE6F19D83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68587"/>
            <a:ext cx="3495923" cy="36966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C04686-C096-44C0-BF62-D088D6B49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601" y="76883"/>
            <a:ext cx="7989641" cy="338980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0488E8D-A8DF-1D6A-50FA-BD0DFCE5E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358" y="2226842"/>
            <a:ext cx="7989642" cy="43194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1AA5F17-D0F0-7045-4765-25250845E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6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D954E4-468F-5E8D-8858-749AF31B5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14" y="588136"/>
            <a:ext cx="10106971" cy="568172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30E2F5A-FB6F-C176-A994-36B7A306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86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30049-0364-2E30-FCA2-553A403F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21CC5-61BC-B524-F544-129BBDEC3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3429000"/>
            <a:ext cx="10800000" cy="3096928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Максимальный срок окупаемости проекта составляет 44 месяца, что может показаться достаточно большим сроком, но разработанная система не предназначена для получения прибыли напрямую.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система хранит данные СЦ ГУО в централизованном хранилище, что позволяет в любой момент получить к ним доступ. Это позволит значительно упростить дальнейшую работу с данными в следующих проектах, даже не на платформе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Visiology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зависимости от того как часто система будет применяться, срок окупаемости может измениться в меньшую сторону.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E843D22-FB76-C792-B2CD-A056F49CF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905623"/>
              </p:ext>
            </p:extLst>
          </p:nvPr>
        </p:nvGraphicFramePr>
        <p:xfrm>
          <a:off x="733769" y="1089332"/>
          <a:ext cx="4876800" cy="20078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82138">
                  <a:extLst>
                    <a:ext uri="{9D8B030D-6E8A-4147-A177-3AD203B41FA5}">
                      <a16:colId xmlns:a16="http://schemas.microsoft.com/office/drawing/2014/main" val="2544085056"/>
                    </a:ext>
                  </a:extLst>
                </a:gridCol>
                <a:gridCol w="1094662">
                  <a:extLst>
                    <a:ext uri="{9D8B030D-6E8A-4147-A177-3AD203B41FA5}">
                      <a16:colId xmlns:a16="http://schemas.microsoft.com/office/drawing/2014/main" val="3051556487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effectLst/>
                        </a:rPr>
                        <a:t>Общий фонд оплаты труда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78000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117547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Начисления на заработную плату во внебюджетные фонды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23 556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006532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Хозяйственно-организационные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961043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Эксплуатация техники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417212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Накладные расходы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15600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25591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Итог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117156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28689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8A3395-ADE1-D367-CAF1-C7EFDBEFB7D4}"/>
              </a:ext>
            </a:extLst>
          </p:cNvPr>
          <p:cNvSpPr txBox="1"/>
          <p:nvPr/>
        </p:nvSpPr>
        <p:spPr>
          <a:xfrm>
            <a:off x="696000" y="7200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затраты на разработку ПП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BF1109D-EEE9-02B0-66F8-C53C0DCC5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683534"/>
              </p:ext>
            </p:extLst>
          </p:nvPr>
        </p:nvGraphicFramePr>
        <p:xfrm>
          <a:off x="6708983" y="1089332"/>
          <a:ext cx="486619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8918">
                  <a:extLst>
                    <a:ext uri="{9D8B030D-6E8A-4147-A177-3AD203B41FA5}">
                      <a16:colId xmlns:a16="http://schemas.microsoft.com/office/drawing/2014/main" val="229762149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81429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Стоимость рабочего часа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≈</a:t>
                      </a:r>
                      <a:r>
                        <a:rPr lang="ru-RU" sz="1400" dirty="0"/>
                        <a:t> 330 </a:t>
                      </a:r>
                      <a:r>
                        <a:rPr lang="ru-RU" sz="1400" dirty="0" err="1"/>
                        <a:t>руб</a:t>
                      </a:r>
                      <a:r>
                        <a:rPr lang="en-US" sz="1400" dirty="0"/>
                        <a:t>.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9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Экономия времени в месяц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≈</a:t>
                      </a:r>
                      <a:r>
                        <a:rPr lang="ru-RU" sz="1400" dirty="0"/>
                        <a:t> </a:t>
                      </a:r>
                      <a:r>
                        <a:rPr lang="en-US" sz="1400" dirty="0"/>
                        <a:t>8 </a:t>
                      </a:r>
                      <a:r>
                        <a:rPr lang="ru-RU" sz="1400" dirty="0"/>
                        <a:t>ч/мес.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65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Расходы в месяц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 руб.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42081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45C98D-F14E-EDB8-EB3D-ABBFBDDA3835}"/>
                  </a:ext>
                </a:extLst>
              </p:cNvPr>
              <p:cNvSpPr txBox="1"/>
              <p:nvPr/>
            </p:nvSpPr>
            <p:spPr>
              <a:xfrm>
                <a:off x="6381549" y="2380295"/>
                <a:ext cx="5193632" cy="882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ru-RU" smtClean="0">
                        <a:latin typeface="Cambria Math" panose="02040503050406030204" pitchFamily="18" charset="0"/>
                      </a:rPr>
                      <m:t>СрокОкупаемости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</a:rPr>
                          <m:t>Затраты на разработку</m:t>
                        </m:r>
                      </m:num>
                      <m:den>
                        <m:r>
                          <a:rPr lang="ru-RU">
                            <a:latin typeface="Cambria Math" panose="02040503050406030204" pitchFamily="18" charset="0"/>
                          </a:rPr>
                          <m:t>ЭкономияВМесяц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РасходыВМесяц 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eqArr>
                          <m:eqArr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117156</m:t>
                            </m:r>
                          </m: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eqAr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(330∗8)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≈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44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мес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45C98D-F14E-EDB8-EB3D-ABBFBDDA3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549" y="2380295"/>
                <a:ext cx="5193632" cy="882806"/>
              </a:xfrm>
              <a:prstGeom prst="rect">
                <a:avLst/>
              </a:prstGeom>
              <a:blipFill>
                <a:blip r:embed="rId2"/>
                <a:stretch>
                  <a:fillRect l="-2817" t="-1379" r="-2700" b="-82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62F4068-F352-1A9E-D8D9-4E0867DCF7C7}"/>
              </a:ext>
            </a:extLst>
          </p:cNvPr>
          <p:cNvSpPr txBox="1"/>
          <p:nvPr/>
        </p:nvSpPr>
        <p:spPr>
          <a:xfrm>
            <a:off x="6698381" y="7200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срока окупаемости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ED6FBD-10C4-A177-1FC5-582CDFC4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77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930949"/>
            <a:ext cx="11186160" cy="2507355"/>
          </a:xfrm>
        </p:spPr>
        <p:txBody>
          <a:bodyPr>
            <a:noAutofit/>
          </a:bodyPr>
          <a:lstStyle/>
          <a:p>
            <a:pPr algn="ctr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21707C-5273-0165-280D-2EE39B25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58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92108" y="0"/>
            <a:ext cx="4207782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624" y="549000"/>
            <a:ext cx="6840000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b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Продвинутая визуализация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позволяет создавать сложные, интерактивные и наглядные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работа с данными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множества источников данных, возможность подключения к большим базам и обработка в реальном времени.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быстро обрабатывает большие объемы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Интуитивный интерфейс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удобный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drag-and-drop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функционал для построения графиков и отчетов.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Широкий функционал аналитики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мощные инструменты для продвинутого анализа данных, включая прогнозирование и кластеризацию.</a:t>
            </a:r>
          </a:p>
          <a:p>
            <a:pPr algn="just">
              <a:spcBef>
                <a:spcPts val="120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освоения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требует времени для обучения, особенно при работе со сложными моделями данных.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Ограниченная интеграция с Microsoft-продуктами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хуже взаимодействует с Excel, SharePoint и Power BI-сервисами.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Требовательность к ресурсам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 слабых ПК и при обработке больших данных возможны задержки.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 доступностью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 распространяется на территории РФ</a:t>
            </a:r>
          </a:p>
        </p:txBody>
      </p:sp>
      <p:pic>
        <p:nvPicPr>
          <p:cNvPr id="1028" name="Picture 4" descr="Tableau to Donate $100 Million through Tableau Foundation to Help Solve  Global Challenges">
            <a:extLst>
              <a:ext uri="{FF2B5EF4-FFF2-40B4-BE49-F238E27FC236}">
                <a16:creationId xmlns:a16="http://schemas.microsoft.com/office/drawing/2014/main" id="{59C5FFCD-AD2F-432D-B5E9-52B312ABC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401" y="617775"/>
            <a:ext cx="4061093" cy="213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siness Intelligence and Analytics Software | Tableau">
            <a:extLst>
              <a:ext uri="{FF2B5EF4-FFF2-40B4-BE49-F238E27FC236}">
                <a16:creationId xmlns:a16="http://schemas.microsoft.com/office/drawing/2014/main" id="{D0B89966-F7B2-4E6C-90D3-1D2681993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47" y="3236054"/>
            <a:ext cx="4835647" cy="271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F118D3-8147-E0B5-53FD-AF826506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50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wiseadvice-it.ru/upload/webp_cache/upload/you-right/sid/yu_sid_reestr_.webp"/>
          <p:cNvSpPr>
            <a:spLocks noChangeAspect="1" noChangeArrowheads="1"/>
          </p:cNvSpPr>
          <p:nvPr/>
        </p:nvSpPr>
        <p:spPr bwMode="auto">
          <a:xfrm>
            <a:off x="155575" y="-144463"/>
            <a:ext cx="689226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81525" y="7937"/>
            <a:ext cx="3028950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08000" y="540000"/>
            <a:ext cx="6840000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и цена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есть бесплатная версия, а платные лицензии стоят дешевле, чем у конкурентов.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Microsoft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легко подключается к Excel,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Azure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 Server и другим продуктам Microsoft.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освоения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интуитивно понятный интерфейс, особенно для пользователей Excel.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Мощные возможности работы с облаком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Microsoft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Azure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автоматическое обновление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Гибкие варианты развертывания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работает как в облаке, так и на локальных серверах.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в обработке больших данны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 – при работе с объемными наборами данных возможны задержки.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экосистемы Microsoft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интеграция с другими сервисами (кроме Microsoft) может быть сложной.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 доступностью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 распространяется на территории РФ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Microsoft Power BI: Boost Business Insights | ArcherPoint">
            <a:extLst>
              <a:ext uri="{FF2B5EF4-FFF2-40B4-BE49-F238E27FC236}">
                <a16:creationId xmlns:a16="http://schemas.microsoft.com/office/drawing/2014/main" id="{DECF1BBE-CEDB-4C60-B5F6-E78072ED4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735" y="719743"/>
            <a:ext cx="4624495" cy="252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wer BI Desktop | Microsoft Power Platform">
            <a:extLst>
              <a:ext uri="{FF2B5EF4-FFF2-40B4-BE49-F238E27FC236}">
                <a16:creationId xmlns:a16="http://schemas.microsoft.com/office/drawing/2014/main" id="{28A41C5F-9AFA-43BC-BEE9-DA258FCA4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101" y="3601308"/>
            <a:ext cx="4784432" cy="284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60B0BA-60E4-3369-D7C6-5950CFBE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60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wiseadvice-it.ru/upload/webp_cache/upload/you-right/sid/yu_sid_reestr_.webp"/>
          <p:cNvSpPr>
            <a:spLocks noChangeAspect="1" noChangeArrowheads="1"/>
          </p:cNvSpPr>
          <p:nvPr/>
        </p:nvSpPr>
        <p:spPr bwMode="auto">
          <a:xfrm>
            <a:off x="155575" y="-144463"/>
            <a:ext cx="689226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81525" y="7937"/>
            <a:ext cx="3028950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08000" y="540000"/>
            <a:ext cx="68400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Yandex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DataLens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Бесплатный базовый тариф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позволяет использовать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DataLens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без дополнительных затрат (с ограничениями по количеству запросов).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экосистемой Яндекса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удобная работа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другими сервисами.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Облачное решение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 требует установки на локальные серверы, доступен через браузер.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различных источников данных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SQL-базы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MySQL), Google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Sheets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1С и другие.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Интуитивно понятный интерфейс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простая настройка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фильтров и визуализаций.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работы в закрытом контуре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развёртывания в частных облаках для бизнеса и госсектора.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Ограниченные возможности кастомизации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мало инструментов для сложных визуализаций.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облачной инфраструктуры Яндекса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менее удобна при использовании других облачных платформ.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Ограниченный офлайн-доступ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так как это облачный сервис, без интернета работать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дашбордами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невозможно.</a:t>
            </a:r>
          </a:p>
        </p:txBody>
      </p:sp>
      <p:pic>
        <p:nvPicPr>
          <p:cNvPr id="2" name="Picture 2" descr="Что такое Yandex.DataLens? — CMS Magazine">
            <a:extLst>
              <a:ext uri="{FF2B5EF4-FFF2-40B4-BE49-F238E27FC236}">
                <a16:creationId xmlns:a16="http://schemas.microsoft.com/office/drawing/2014/main" id="{C6386906-36C4-4D59-9645-DE01E54A7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59" y="719743"/>
            <a:ext cx="4957089" cy="244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Yandex DataLens – облачная BI-система">
            <a:extLst>
              <a:ext uri="{FF2B5EF4-FFF2-40B4-BE49-F238E27FC236}">
                <a16:creationId xmlns:a16="http://schemas.microsoft.com/office/drawing/2014/main" id="{CB4BBEF1-A4FD-4EA2-ACD3-53EF5BA44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59" y="3491577"/>
            <a:ext cx="5053682" cy="271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3F006C2-7A2D-7162-CD11-23F38427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060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wiseadvice-it.ru/upload/webp_cache/upload/you-right/sid/yu_sid_reestr_.webp"/>
          <p:cNvSpPr>
            <a:spLocks noChangeAspect="1" noChangeArrowheads="1"/>
          </p:cNvSpPr>
          <p:nvPr/>
        </p:nvSpPr>
        <p:spPr bwMode="auto">
          <a:xfrm>
            <a:off x="155575" y="-144463"/>
            <a:ext cx="689226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81525" y="7937"/>
            <a:ext cx="3028950" cy="711806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08000" y="540000"/>
            <a:ext cx="6840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Visiology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 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уже имеется у заказчика.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российская разработка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подходит для импортозамещения и соответствует требованиям по безопасности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визуализация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мощный инструмент для построения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дашбордов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отчётов и аналитических панелей.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различными источниками данных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поддержка SQL-баз, 1С, Excel, API и других систем.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оптимизирован для работы с большими массивами данных.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работы в закрытых контурах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важно для госсектора и корпоративных пользователей.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и облачная версия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возможность развернуть как в частном облаке, так и на собственных серверах.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порог вхождения – требует времени на освоение, особенно для пользователей без опыта работы с BI-системами.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российского рынка – меньшая известность и комьюнити по сравнению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Power BI, что может ограничивать доступ к ресурсам и обучающим материалам.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развертывания – для корпоративных внедрений может требовать сложной настройки и технической поддержки.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Visiology: лидер российского BI">
            <a:extLst>
              <a:ext uri="{FF2B5EF4-FFF2-40B4-BE49-F238E27FC236}">
                <a16:creationId xmlns:a16="http://schemas.microsoft.com/office/drawing/2014/main" id="{F00D7475-EFC6-36A1-6D6B-ECA43A7C1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073" y="907783"/>
            <a:ext cx="4482164" cy="252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День 2. Основы интерфейса Visiology">
            <a:extLst>
              <a:ext uri="{FF2B5EF4-FFF2-40B4-BE49-F238E27FC236}">
                <a16:creationId xmlns:a16="http://schemas.microsoft.com/office/drawing/2014/main" id="{5E8EC7E0-240A-5916-AEA6-823949CD4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42" y="3617040"/>
            <a:ext cx="4627802" cy="294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8FA011C-9AFD-3A7C-CA44-704D4997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350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F6384-BBC7-2075-D4D3-0C6943198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развертывания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383E829-BFAC-D425-7D20-C15CABBB4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2994" y="1825625"/>
            <a:ext cx="4866012" cy="435133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189E5CF-37D4-CAE7-C0D7-FBC188A6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979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3DABB-CFA0-224B-CF7A-DFFBFE2E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1E2793-C9C1-736A-1456-87600114E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2" y="1390142"/>
            <a:ext cx="11489635" cy="521280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EBB177-48ED-A5D6-12ED-B5D5199C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70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1495</TotalTime>
  <Words>1160</Words>
  <Application>Microsoft Office PowerPoint</Application>
  <PresentationFormat>Широкоэкранный</PresentationFormat>
  <Paragraphs>163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</vt:lpstr>
      <vt:lpstr>Times New Roman</vt:lpstr>
      <vt:lpstr>Wingdings</vt:lpstr>
      <vt:lpstr>Тема Office</vt:lpstr>
      <vt:lpstr>Доклад Разработка подсистемы анализа кадровых данных для Ситуационного центра Губернатора Ульяновской области с использованием платформы Visiology</vt:lpstr>
      <vt:lpstr>Актуальность</vt:lpstr>
      <vt:lpstr>Цели и задачи</vt:lpstr>
      <vt:lpstr>Аналоги</vt:lpstr>
      <vt:lpstr>Выбор технологий</vt:lpstr>
      <vt:lpstr>Презентация PowerPoint</vt:lpstr>
      <vt:lpstr>Диаграмма прецедентов</vt:lpstr>
      <vt:lpstr>ER-диаграмма</vt:lpstr>
      <vt:lpstr>Презентация PowerPoint</vt:lpstr>
      <vt:lpstr>Презентация PowerPoint</vt:lpstr>
      <vt:lpstr>Презентация PowerPoint</vt:lpstr>
      <vt:lpstr>Экономика</vt:lpstr>
      <vt:lpstr>Спасибо за внимание!</vt:lpstr>
      <vt:lpstr>Аналоги</vt:lpstr>
      <vt:lpstr>Аналоги</vt:lpstr>
      <vt:lpstr>Аналоги</vt:lpstr>
      <vt:lpstr>Аналоги</vt:lpstr>
      <vt:lpstr>Диаграмма развертывания</vt:lpstr>
      <vt:lpstr>Диаграмма классов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Кнфрнц_Презентация</dc:title>
  <dc:creator>Владислав Захаров</dc:creator>
  <cp:lastModifiedBy>Владислав Захаров</cp:lastModifiedBy>
  <cp:revision>71</cp:revision>
  <dcterms:created xsi:type="dcterms:W3CDTF">2024-01-25T15:31:53Z</dcterms:created>
  <dcterms:modified xsi:type="dcterms:W3CDTF">2025-06-18T16:54:20Z</dcterms:modified>
</cp:coreProperties>
</file>