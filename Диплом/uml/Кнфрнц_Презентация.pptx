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34" r:id="rId1"/>
  </p:sldMasterIdLst>
  <p:sldIdLst>
    <p:sldId id="262" r:id="rId2"/>
    <p:sldId id="258" r:id="rId3"/>
    <p:sldId id="257" r:id="rId4"/>
    <p:sldId id="271" r:id="rId5"/>
    <p:sldId id="272" r:id="rId6"/>
    <p:sldId id="259" r:id="rId7"/>
    <p:sldId id="267" r:id="rId8"/>
    <p:sldId id="269" r:id="rId9"/>
    <p:sldId id="270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7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21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74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2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737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7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55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75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6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4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42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0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7844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358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158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866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53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57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068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852" y="1210392"/>
            <a:ext cx="11375470" cy="2234343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подсистемы анализа кадровых данных для Ситуационного центра Губернатора Ульяновской области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734387" y="0"/>
            <a:ext cx="8534400" cy="9476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Ульяновский государственный технический университет</a:t>
            </a:r>
          </a:p>
          <a:p>
            <a:pPr algn="ct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информационных систем и технологий</a:t>
            </a:r>
          </a:p>
          <a:p>
            <a:pPr algn="ct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«Информационных систем»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3305" y="3444735"/>
            <a:ext cx="11945390" cy="2821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80"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Обучающийся  4  курса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Группа  ИСЭбд-41 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Направление подготовки/ специальность 09.03.03 –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Прикладная информатика (профиль «Прикладная информатика в экономике»)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Захаров Владислав Витальевич </a:t>
            </a:r>
            <a:r>
              <a:rPr lang="ru-RU" sz="1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indent="5080"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Руководитель: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ст. преподаватель, </a:t>
            </a:r>
            <a:r>
              <a:rPr lang="ru-RU" sz="1400" dirty="0" err="1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Шеркунов</a:t>
            </a: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 Вячеслав Владимирович</a:t>
            </a:r>
            <a:r>
              <a:rPr lang="ru-RU" sz="1400" baseline="300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	</a:t>
            </a:r>
          </a:p>
          <a:p>
            <a:pPr indent="5080">
              <a:spcAft>
                <a:spcPts val="0"/>
              </a:spcAft>
            </a:pPr>
            <a:endParaRPr lang="ru-RU" sz="1400" baseline="30000" dirty="0">
              <a:latin typeface="Times New Roman" panose="02020603050405020304" pitchFamily="18" charset="0"/>
              <a:ea typeface="Yu Gothic UI Semilight" panose="020B0400000000000000" pitchFamily="34" charset="-128"/>
              <a:cs typeface="Times New Roman" panose="02020603050405020304" pitchFamily="18" charset="0"/>
            </a:endParaRPr>
          </a:p>
          <a:p>
            <a:pPr indent="5080" algn="ctr"/>
            <a:br>
              <a:rPr lang="en-US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</a:br>
            <a:endParaRPr lang="ru-RU" sz="1400" dirty="0">
              <a:latin typeface="Times New Roman" panose="02020603050405020304" pitchFamily="18" charset="0"/>
              <a:ea typeface="Yu Gothic UI Semilight" panose="020B0400000000000000" pitchFamily="34" charset="-128"/>
              <a:cs typeface="Times New Roman" panose="02020603050405020304" pitchFamily="18" charset="0"/>
            </a:endParaRPr>
          </a:p>
          <a:p>
            <a:pPr indent="5080" algn="ctr"/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г. Ульяновск, 2024 г.</a:t>
            </a:r>
          </a:p>
        </p:txBody>
      </p:sp>
    </p:spTree>
    <p:extLst>
      <p:ext uri="{BB962C8B-B14F-4D97-AF65-F5344CB8AC3E}">
        <p14:creationId xmlns:p14="http://schemas.microsoft.com/office/powerpoint/2010/main" val="3905277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9970" y="352223"/>
            <a:ext cx="11078095" cy="711806"/>
          </a:xfrm>
        </p:spPr>
        <p:txBody>
          <a:bodyPr/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93409" y="1581119"/>
            <a:ext cx="10800000" cy="468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данный момент кадровая аналитика в государственных структурах часто основывается на разрозненных данных, обработка которых требует значительных временных и трудозатрат. Отсутствие единой системы анализа кадровых данных затрудняет выявление проблем, связанных с текучестью кадров, уровнем компетенций сотрудников и эффективностью работы государственных служащих.  </a:t>
            </a:r>
            <a:endParaRPr lang="en-US" sz="2000" dirty="0">
              <a:latin typeface="Times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ru-RU" sz="2000" dirty="0"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Ситуационный центр Губернатора Ульяновской области нуждается в инструменте, который позволит оперативно анализировать кадровые данные, прогнозировать кадровые изменения и принимать обоснованные управленческие решения.  </a:t>
            </a:r>
          </a:p>
          <a:p>
            <a:pPr algn="just">
              <a:spcAft>
                <a:spcPts val="800"/>
              </a:spcAft>
            </a:pPr>
            <a:r>
              <a:rPr lang="ru-RU" sz="2000" dirty="0"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подсистемы анализа кадровых данных позволит автоматизировать процесс обработки информации, повысить прозрачность кадровых решений и значительно сократить время на анализ и подготовку отчетности.</a:t>
            </a:r>
          </a:p>
          <a:p>
            <a:pPr algn="just">
              <a:spcAft>
                <a:spcPts val="800"/>
              </a:spcAft>
            </a:pPr>
            <a:r>
              <a:rPr lang="ru-RU" sz="2000" dirty="0"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создание подсистемы анализа кадровых данных является актуальной задачей, способствующей цифровизации кадровых процессов и повышению эффективности работы Ситуационного центра Губернатора Ульяновской области.</a:t>
            </a:r>
          </a:p>
        </p:txBody>
      </p:sp>
    </p:spTree>
    <p:extLst>
      <p:ext uri="{BB962C8B-B14F-4D97-AF65-F5344CB8AC3E}">
        <p14:creationId xmlns:p14="http://schemas.microsoft.com/office/powerpoint/2010/main" val="175187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7680" y="185969"/>
            <a:ext cx="11303000" cy="719349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9180" y="1021006"/>
            <a:ext cx="10800000" cy="536432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b="0" dirty="0">
                <a:latin typeface="Times" panose="02020603050405020304" pitchFamily="18" charset="0"/>
                <a:cs typeface="Times New Roman" panose="02020603050405020304" pitchFamily="18" charset="0"/>
              </a:rPr>
              <a:t>путем разработки централизованного хранилища, автоматизировать процесс обработки информации, сокращения ошибок при работе с данными, повысить прозрачность кадровых решений и значительно сократить время на анализ и подготовку отчетности</a:t>
            </a: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требования и предпочтения заказчика;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подсистему хранения кадровых данных на базе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подсистему анализа кадровых данных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базе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Designer </a:t>
            </a: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Visiology</a:t>
            </a: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подсистем;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Внедрить подсистему в эксплуатацию.</a:t>
            </a:r>
          </a:p>
        </p:txBody>
      </p:sp>
    </p:spTree>
    <p:extLst>
      <p:ext uri="{BB962C8B-B14F-4D97-AF65-F5344CB8AC3E}">
        <p14:creationId xmlns:p14="http://schemas.microsoft.com/office/powerpoint/2010/main" val="182516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9999" y="0"/>
            <a:ext cx="8640000" cy="719349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 «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есть»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2E8AD68-C24C-93B6-4F67-CA3AB5591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615" y="811263"/>
            <a:ext cx="10812770" cy="5760000"/>
          </a:xfrm>
        </p:spPr>
      </p:pic>
    </p:spTree>
    <p:extLst>
      <p:ext uri="{BB962C8B-B14F-4D97-AF65-F5344CB8AC3E}">
        <p14:creationId xmlns:p14="http://schemas.microsoft.com/office/powerpoint/2010/main" val="191209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4553" y="0"/>
            <a:ext cx="8640000" cy="719349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IDEF0 «Как должно быть»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493F65-188B-D402-784F-264B1EE65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23" y="841025"/>
            <a:ext cx="10796953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4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92108" y="0"/>
            <a:ext cx="4207782" cy="711806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624" y="549000"/>
            <a:ext cx="6840000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Tableau</a:t>
            </a:r>
            <a:b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Преимущества: 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Продвинутая визуализация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позволяет создавать сложные, интерактивные и наглядные </a:t>
            </a:r>
            <a:r>
              <a:rPr lang="ru-RU" sz="1600" dirty="0" err="1">
                <a:latin typeface="Times" panose="02020603050405020304" pitchFamily="18" charset="0"/>
                <a:cs typeface="Times" panose="02020603050405020304" pitchFamily="18" charset="0"/>
              </a:rPr>
              <a:t>дашборды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Гибкая работа с данными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поддержка множества источников данных, возможность подключения к большим базам и обработка в реальном времени.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Высокая производительность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быстро обрабатывает большие объемы данных.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Интуитивный интерфейс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удобный </a:t>
            </a:r>
            <a:r>
              <a:rPr lang="ru-RU" sz="1600" dirty="0" err="1">
                <a:latin typeface="Times" panose="02020603050405020304" pitchFamily="18" charset="0"/>
                <a:cs typeface="Times" panose="02020603050405020304" pitchFamily="18" charset="0"/>
              </a:rPr>
              <a:t>drag-and-drop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 функционал для построения графиков и отчетов.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Широкий функционал аналитики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мощные инструменты для продвинутого анализа данных, включая прогнозирование и кластеризацию.</a:t>
            </a:r>
          </a:p>
          <a:p>
            <a:pPr algn="just">
              <a:spcBef>
                <a:spcPts val="1200"/>
              </a:spcBef>
              <a:spcAft>
                <a:spcPts val="0"/>
              </a:spcAft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Недостатки: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Сложность освоения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требует времени для обучения, особенно при работе со сложными моделями данных.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Ограниченная интеграция с Microsoft-продуктами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хуже взаимодействует с Excel, SharePoint и Power BI-сервисами.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Требовательность к ресурсам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на слабых ПК и при обработке больших данных возможны задержки.</a:t>
            </a:r>
            <a:endParaRPr lang="en-US" sz="1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Проблемы с доступностью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не распространяется на территории РФ</a:t>
            </a:r>
          </a:p>
        </p:txBody>
      </p:sp>
      <p:pic>
        <p:nvPicPr>
          <p:cNvPr id="1028" name="Picture 4" descr="Tableau to Donate $100 Million through Tableau Foundation to Help Solve  Global Challenges">
            <a:extLst>
              <a:ext uri="{FF2B5EF4-FFF2-40B4-BE49-F238E27FC236}">
                <a16:creationId xmlns:a16="http://schemas.microsoft.com/office/drawing/2014/main" id="{59C5FFCD-AD2F-432D-B5E9-52B312ABC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401" y="617775"/>
            <a:ext cx="4061093" cy="213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siness Intelligence and Analytics Software | Tableau">
            <a:extLst>
              <a:ext uri="{FF2B5EF4-FFF2-40B4-BE49-F238E27FC236}">
                <a16:creationId xmlns:a16="http://schemas.microsoft.com/office/drawing/2014/main" id="{D0B89966-F7B2-4E6C-90D3-1D2681993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47" y="3236054"/>
            <a:ext cx="4835647" cy="2718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45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wiseadvice-it.ru/upload/webp_cache/upload/you-right/sid/yu_sid_reestr_.webp"/>
          <p:cNvSpPr>
            <a:spLocks noChangeAspect="1" noChangeArrowheads="1"/>
          </p:cNvSpPr>
          <p:nvPr/>
        </p:nvSpPr>
        <p:spPr bwMode="auto">
          <a:xfrm>
            <a:off x="155575" y="-144463"/>
            <a:ext cx="689226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581525" y="7937"/>
            <a:ext cx="3028950" cy="711806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08000" y="540000"/>
            <a:ext cx="6840000" cy="639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Microsoft Power BI</a:t>
            </a:r>
            <a:endParaRPr lang="ru-RU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и цена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есть бесплатная версия, а платные лицензии стоят дешевле, чем у конкурентов.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Microsoft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легко подключается к Excel,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Azure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SQL Server и другим продуктам Microsoft.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освоения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интуитивно понятный интерфейс, особенно для пользователей Excel.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Мощные возможности работы с облаком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Microsoft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Azure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автоматическое обновление данных.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Гибкие варианты развертывания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работает как в облаке, так и на локальных серверах.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Ограниченные возможности визуализации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 такая гибкость в создании сложных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как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в обработке больших данны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 – при работе с объемными наборами данных возможны задержки.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экосистемы Microsoft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интеграция с другими сервисами (кроме Microsoft) может быть сложной.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Менее развитая аналитика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по сравнению 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меньше инструментов для глубокого анализа данных.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" panose="02020603050405020304" pitchFamily="18" charset="0"/>
                <a:cs typeface="Times" panose="02020603050405020304" pitchFamily="18" charset="0"/>
              </a:rPr>
              <a:t>Проблемы с доступностью </a:t>
            </a:r>
            <a:r>
              <a:rPr lang="ru-RU" sz="1600" dirty="0">
                <a:latin typeface="Times" panose="02020603050405020304" pitchFamily="18" charset="0"/>
                <a:cs typeface="Times" panose="02020603050405020304" pitchFamily="18" charset="0"/>
              </a:rPr>
              <a:t>– не распространяется на территории РФ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Microsoft Power BI: Boost Business Insights | ArcherPoint">
            <a:extLst>
              <a:ext uri="{FF2B5EF4-FFF2-40B4-BE49-F238E27FC236}">
                <a16:creationId xmlns:a16="http://schemas.microsoft.com/office/drawing/2014/main" id="{DECF1BBE-CEDB-4C60-B5F6-E78072ED4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735" y="719743"/>
            <a:ext cx="4624495" cy="252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wer BI Desktop | Microsoft Power Platform">
            <a:extLst>
              <a:ext uri="{FF2B5EF4-FFF2-40B4-BE49-F238E27FC236}">
                <a16:creationId xmlns:a16="http://schemas.microsoft.com/office/drawing/2014/main" id="{28A41C5F-9AFA-43BC-BEE9-DA258FCA4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101" y="3601308"/>
            <a:ext cx="4784432" cy="284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960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wiseadvice-it.ru/upload/webp_cache/upload/you-right/sid/yu_sid_reestr_.webp"/>
          <p:cNvSpPr>
            <a:spLocks noChangeAspect="1" noChangeArrowheads="1"/>
          </p:cNvSpPr>
          <p:nvPr/>
        </p:nvSpPr>
        <p:spPr bwMode="auto">
          <a:xfrm>
            <a:off x="155575" y="-144463"/>
            <a:ext cx="689226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581525" y="7937"/>
            <a:ext cx="3028950" cy="711806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08000" y="540000"/>
            <a:ext cx="68400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Yandex </a:t>
            </a:r>
            <a:r>
              <a:rPr lang="en-US" sz="2400" dirty="0" err="1">
                <a:latin typeface="Times" panose="02020603050405020304" pitchFamily="18" charset="0"/>
                <a:cs typeface="Times" panose="02020603050405020304" pitchFamily="18" charset="0"/>
              </a:rPr>
              <a:t>DataLens</a:t>
            </a:r>
            <a:endParaRPr lang="ru-RU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Бесплатный базовый тариф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позволяет использовать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DataLens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без дополнительных затрат (с ограничениями по количеству запросов).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экосистемой Яндекса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удобная работа 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другими сервисами.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Облачное решение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 требует установки на локальные серверы, доступен через браузер.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различных источников данных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SQL-базы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MySQL), Google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Sheets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1С и другие.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Интуитивно понятный интерфейс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простая настройка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фильтров и визуализаций.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работы в закрытом контуре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развёртывания в частных облаках для бизнеса и госсектора.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Ограниченные возможности кастомизации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мало инструментов для сложных визуализаций.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облачной инфраструктуры Яндекса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менее удобна при использовании других облачных платформ.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Ограниченный офлайн-доступ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так как это облачный сервис, без интернета работать 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дашбордами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невозможно.</a:t>
            </a:r>
          </a:p>
        </p:txBody>
      </p:sp>
      <p:pic>
        <p:nvPicPr>
          <p:cNvPr id="2" name="Picture 2" descr="Что такое Yandex.DataLens? — CMS Magazine">
            <a:extLst>
              <a:ext uri="{FF2B5EF4-FFF2-40B4-BE49-F238E27FC236}">
                <a16:creationId xmlns:a16="http://schemas.microsoft.com/office/drawing/2014/main" id="{C6386906-36C4-4D59-9645-DE01E54A7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459" y="719743"/>
            <a:ext cx="4957089" cy="244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Yandex DataLens – облачная BI-система">
            <a:extLst>
              <a:ext uri="{FF2B5EF4-FFF2-40B4-BE49-F238E27FC236}">
                <a16:creationId xmlns:a16="http://schemas.microsoft.com/office/drawing/2014/main" id="{CB4BBEF1-A4FD-4EA2-ACD3-53EF5BA44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459" y="3491577"/>
            <a:ext cx="5053682" cy="271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060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wiseadvice-it.ru/upload/webp_cache/upload/you-right/sid/yu_sid_reestr_.webp"/>
          <p:cNvSpPr>
            <a:spLocks noChangeAspect="1" noChangeArrowheads="1"/>
          </p:cNvSpPr>
          <p:nvPr/>
        </p:nvSpPr>
        <p:spPr bwMode="auto">
          <a:xfrm>
            <a:off x="155575" y="-144463"/>
            <a:ext cx="689226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581525" y="7937"/>
            <a:ext cx="3028950" cy="711806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08000" y="540000"/>
            <a:ext cx="6840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 err="1">
                <a:latin typeface="Times" panose="02020603050405020304" pitchFamily="18" charset="0"/>
                <a:cs typeface="Times" panose="02020603050405020304" pitchFamily="18" charset="0"/>
              </a:rPr>
              <a:t>Visiology</a:t>
            </a:r>
            <a:endParaRPr lang="ru-RU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уже имеется у заказчика.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российская разработка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подходит для импортозамещения и соответствует требованиям по безопасности данных.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визуализация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мощный инструмент для построения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отчётов и аналитических панелей.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различными источниками данных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SQL-баз, 1С, Excel, API и других систем.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оптимизирован для работы с большими массивами данных.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работы в закрытых контурах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важно для госсектора и корпоративных пользователей.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и облачная версия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возможность развернуть как в частном облаке, так и на собственных серверах. 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порог вхождения – требует времени на освоение, особенно для пользователей без опыта работы с BI-системами.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российского рынка – меньшая известность и комьюнити по сравнению 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Power BI, что может ограничивать доступ к ресурсам и обучающим материалам.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развертывания – для корпоративных внедрений может требовать сложной настройки и технической поддержки.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Visiology: лидер российского BI">
            <a:extLst>
              <a:ext uri="{FF2B5EF4-FFF2-40B4-BE49-F238E27FC236}">
                <a16:creationId xmlns:a16="http://schemas.microsoft.com/office/drawing/2014/main" id="{F00D7475-EFC6-36A1-6D6B-ECA43A7C1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073" y="907783"/>
            <a:ext cx="4482164" cy="252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День 2. Основы интерфейса Visiology">
            <a:extLst>
              <a:ext uri="{FF2B5EF4-FFF2-40B4-BE49-F238E27FC236}">
                <a16:creationId xmlns:a16="http://schemas.microsoft.com/office/drawing/2014/main" id="{5E8EC7E0-240A-5916-AEA6-823949CD4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142" y="3617040"/>
            <a:ext cx="4627802" cy="294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35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930949"/>
            <a:ext cx="11186160" cy="2507355"/>
          </a:xfrm>
        </p:spPr>
        <p:txBody>
          <a:bodyPr>
            <a:noAutofit/>
          </a:bodyPr>
          <a:lstStyle/>
          <a:p>
            <a:pPr algn="ctr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8" descr="https://wiseadvice-it.ru/upload/webp_cache/upload/you-right/sid/yu_sid_reestr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9588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502</TotalTime>
  <Words>884</Words>
  <Application>Microsoft Office PowerPoint</Application>
  <PresentationFormat>Широкоэкранный</PresentationFormat>
  <Paragraphs>85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Calisto MT</vt:lpstr>
      <vt:lpstr>Times</vt:lpstr>
      <vt:lpstr>Times New Roman</vt:lpstr>
      <vt:lpstr>Wingdings</vt:lpstr>
      <vt:lpstr>Wingdings 2</vt:lpstr>
      <vt:lpstr>Сланец</vt:lpstr>
      <vt:lpstr>Доклад  Разработка подсистемы анализа кадровых данных для Ситуационного центра Губернатора Ульяновской области</vt:lpstr>
      <vt:lpstr>Актуальность</vt:lpstr>
      <vt:lpstr>Цели и задачи</vt:lpstr>
      <vt:lpstr>Диаграмма IDEF0 «Как есть»</vt:lpstr>
      <vt:lpstr>Диаграмма IDEF0 «Как должно быть»</vt:lpstr>
      <vt:lpstr>Аналоги</vt:lpstr>
      <vt:lpstr>Аналоги</vt:lpstr>
      <vt:lpstr>Аналоги</vt:lpstr>
      <vt:lpstr>Аналоги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Кнфрнц_Презентация</dc:title>
  <dc:creator>Владислав Захаров</dc:creator>
  <cp:lastModifiedBy>Владислав Захаров</cp:lastModifiedBy>
  <cp:revision>42</cp:revision>
  <dcterms:created xsi:type="dcterms:W3CDTF">2024-01-25T15:31:53Z</dcterms:created>
  <dcterms:modified xsi:type="dcterms:W3CDTF">2025-02-03T08:52:59Z</dcterms:modified>
</cp:coreProperties>
</file>